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E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KLETKAMP AGREEMENT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Tatoma Strategy &amp;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Vision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8E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&amp; Beyond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  •  December 17, 2025  •  Sander, Maarten, Israel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TARGETS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783080"/>
            <a:ext cx="594360" cy="228600"/>
          </a:xfrm>
          <a:prstGeom prst="rect">
            <a:avLst/>
          </a:prstGeom>
          <a:solidFill>
            <a:srgbClr val="4F203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783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F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€200k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463040" cy="5486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08960"/>
            <a:ext cx="585216" cy="54864"/>
          </a:xfrm>
          <a:prstGeom prst="rect">
            <a:avLst/>
          </a:prstGeom>
          <a:solidFill>
            <a:srgbClr val="4F2035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64592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E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1783080"/>
            <a:ext cx="594360" cy="2286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7830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0175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&gt;€300k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017520" y="3108960"/>
            <a:ext cx="1463040" cy="5486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3108960"/>
            <a:ext cx="877824" cy="54864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6459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&gt;€400k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120640" y="3108960"/>
            <a:ext cx="1463040" cy="5486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3108960"/>
            <a:ext cx="1170432" cy="54864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6459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&gt;€500k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7223760" y="3108960"/>
            <a:ext cx="1463040" cy="5486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223760" y="3108960"/>
            <a:ext cx="1463040" cy="54864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€1.0M + Scalable Product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TARGET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&gt;€1.4M Revenue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Focus Domains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64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Sales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Companies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Circles for ADG &amp; Crowe. Manage transformation across subsidiaries.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0" y="2578608"/>
            <a:ext cx="1280160" cy="201168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&amp; Maarten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664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Circle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Circle via BDs (Henrik &amp; Duncan). Accountancy Circle via Partnership model.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349240" y="2578608"/>
            <a:ext cx="1280160" cy="201168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15" name="Text 11"/>
          <p:cNvSpPr/>
          <p:nvPr/>
        </p:nvSpPr>
        <p:spPr>
          <a:xfrm>
            <a:off x="5349240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Lead by April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731520" y="30632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with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Service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blend in 2026 → 20/80 by 2030. The platform is the Transformation OS.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371600" y="4087368"/>
            <a:ext cx="1280160" cy="201168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21" name="Text 16"/>
          <p:cNvSpPr/>
          <p:nvPr/>
        </p:nvSpPr>
        <p:spPr>
          <a:xfrm>
            <a:off x="1371600" y="4087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4709160" y="3063240"/>
            <a:ext cx="3703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461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3172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Industrial</a:t>
            </a:r>
            <a:endParaRPr lang="en-US" sz="13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3492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AI: tailored prompts, agentic workflows, and scorecards.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349240" y="4087368"/>
            <a:ext cx="1280160" cy="201168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27" name="Text 21"/>
          <p:cNvSpPr/>
          <p:nvPr/>
        </p:nvSpPr>
        <p:spPr>
          <a:xfrm>
            <a:off x="5349240" y="40873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USP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Cofounders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691640"/>
            <a:ext cx="640080" cy="640080"/>
          </a:xfrm>
          <a:prstGeom prst="ellipse">
            <a:avLst/>
          </a:prstGeom>
          <a:solidFill>
            <a:srgbClr val="4F2035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Companies Sales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Circle Support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Kriton Partnership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388620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Finance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Delivery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0440" y="150876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1691640"/>
            <a:ext cx="640080" cy="640080"/>
          </a:xfrm>
          <a:prstGeom prst="ellipse">
            <a:avLst/>
          </a:prstGeom>
          <a:solidFill>
            <a:srgbClr val="4F2035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204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Maarten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292608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Companies Sales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324612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 (Concepts)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0" y="356616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Partnership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388620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Delivery &amp; Webinars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420624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GoWeekly Transition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150876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691640"/>
            <a:ext cx="640080" cy="640080"/>
          </a:xfrm>
          <a:prstGeom prst="ellipse">
            <a:avLst/>
          </a:prstGeom>
          <a:solidFill>
            <a:srgbClr val="4F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46520" y="292608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324612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 &amp; Scalability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46520" y="356616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388620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WBSO Management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46520" y="4206240"/>
            <a:ext cx="21945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Migration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27432" cy="301752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5" name="Shape 3"/>
          <p:cNvSpPr/>
          <p:nvPr/>
        </p:nvSpPr>
        <p:spPr>
          <a:xfrm>
            <a:off x="1170432" y="1691640"/>
            <a:ext cx="256032" cy="256032"/>
          </a:xfrm>
          <a:prstGeom prst="ellipse">
            <a:avLst/>
          </a:prstGeom>
          <a:solidFill>
            <a:srgbClr val="FF8E7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459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 Portal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8600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Transformation Timeline — Align, Activate, Adopt. Cross Miro / Invoicing / Platform.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70432" y="2468880"/>
            <a:ext cx="256032" cy="256032"/>
          </a:xfrm>
          <a:prstGeom prst="ellipse">
            <a:avLst/>
          </a:prstGeom>
          <a:solidFill>
            <a:srgbClr val="FF8E7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231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Creator Hub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286000" y="2697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space to build and standardize Cards and Prompts across an organization.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170432" y="3246120"/>
            <a:ext cx="256032" cy="256032"/>
          </a:xfrm>
          <a:prstGeom prst="ellipse">
            <a:avLst/>
          </a:prstGeom>
          <a:solidFill>
            <a:srgbClr val="FF8E7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004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0" y="3154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Retention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286000" y="3474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workshop insights and generated IP directly into the platform — Tatoma's AI Memory.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170432" y="4023360"/>
            <a:ext cx="256032" cy="256032"/>
          </a:xfrm>
          <a:prstGeom prst="ellipse">
            <a:avLst/>
          </a:prstGeom>
          <a:solidFill>
            <a:srgbClr val="FF8E7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776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28600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Context Layer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2286000" y="4251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Tatoma as the intelligent context layer. Clients use their own LLM; Tatoma plugs in via MCP.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 Companies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5,000 European companies in 5 years through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OS and MCP protocol.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1371600" cy="320040"/>
          </a:xfrm>
          <a:prstGeom prst="rect">
            <a:avLst/>
          </a:prstGeom>
          <a:solidFill>
            <a:srgbClr val="FF8E7D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3200400"/>
            <a:ext cx="1371600" cy="320040"/>
          </a:xfrm>
          <a:prstGeom prst="rect">
            <a:avLst/>
          </a:prstGeom>
          <a:solidFill>
            <a:srgbClr val="FF8E7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Lens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86200" y="3200400"/>
            <a:ext cx="1371600" cy="320040"/>
          </a:xfrm>
          <a:prstGeom prst="rect">
            <a:avLst/>
          </a:prstGeom>
          <a:solidFill>
            <a:srgbClr val="FF8E7D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solidFill>
            <a:srgbClr val="FF8E7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86600" y="3200400"/>
            <a:ext cx="1371600" cy="320040"/>
          </a:xfrm>
          <a:prstGeom prst="rect">
            <a:avLst/>
          </a:prstGeom>
          <a:solidFill>
            <a:srgbClr val="FF8E7D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Model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F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OKR SESSION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31,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Sander, Maarten, Israel  •  90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417320" cy="1463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Retro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926080"/>
            <a:ext cx="1417320" cy="1463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3172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926080"/>
            <a:ext cx="1417320" cy="1463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93192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OKRs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926080"/>
            <a:ext cx="1417320" cy="1463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2926080"/>
            <a:ext cx="1417320" cy="1463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10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RETRO  •  25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Retrospective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384048"/>
          </a:xfrm>
          <a:prstGeom prst="rect">
            <a:avLst/>
          </a:prstGeom>
          <a:solidFill>
            <a:srgbClr val="4F20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6F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6F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6F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801368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01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V2.0 &amp; migrate all clients to Portal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 / Israel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18120" y="1911096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185416"/>
            <a:ext cx="7680960" cy="384048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854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ADG/Crowe Private Circles; design Partner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1854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18120" y="2295144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569464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694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Tech Intern &amp; Data Consultant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569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/ Sander / Maarten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2679192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953512"/>
            <a:ext cx="7680960" cy="384048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953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tax reservations &amp; insurance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953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3063240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337560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337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WBSO application &amp; test MCP push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18120" y="3447288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721608"/>
            <a:ext cx="7680960" cy="384048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21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“Movement” comms for existing clients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721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3831336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4105656"/>
            <a:ext cx="76809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1056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Overall Circle Lead (by April 1st)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105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18120" y="4215384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489704"/>
            <a:ext cx="7680960" cy="384048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44897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LinkedIn visibility per cofounder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4897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18120" y="4599432"/>
            <a:ext cx="164592" cy="164592"/>
          </a:xfrm>
          <a:prstGeom prst="ellipse">
            <a:avLst/>
          </a:prstGeom>
          <a:solidFill>
            <a:srgbClr val="E8E4E8"/>
          </a:solidFill>
          <a:ln w="12700">
            <a:solidFill>
              <a:srgbClr val="D0CCD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•  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We?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TARGET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€200k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ACTUAL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8E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___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together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&gt;€300k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749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GOAL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€1.0M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2064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3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&gt;€1.4M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OKRS  •  OBJECTIVE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Accelerate Revenue to &gt;€300k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SALES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€___k in Group Company deals (ADG / Crowe Private Circles)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33172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Circle generates €___k through BD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10896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Accountancy Circle: model designed &amp; first pilot running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388620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revenue (Kriton / Node 1) reaches €___k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OKRS  •  OBJECTIVE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a Product That Sells Itself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1051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64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Portal live with Visual Transformation Timeline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/ Maarten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24028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5059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404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active clients on the Portal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34440" y="288036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9067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044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Hub MVP launched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34440" y="352044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3075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685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Retention: workshop insights auto-stored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685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416052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7083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325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context-layer: first client pilot running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OKRS  •  OBJECTIVE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the “Software with a Service”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SCALABILITY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expert webinars executed; cross-circle sharing live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33172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learning partner onboarded for Work Better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10896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38328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playbook documented for independent leads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388620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outsourced Circle Operations for Accountancy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OKRS  •  OBJECTIVE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Team &amp; Brand for Scale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MARKETING &amp; OPS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1051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64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intern productive and contributing to backlog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24028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5059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404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consultant onboarded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34440" y="288036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9067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044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cofounder publishes ≥6 LinkedIn posts in Q2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34440" y="352044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73075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685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“Movement” community: ___ active client participants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685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34440" y="4160520"/>
            <a:ext cx="6766560" cy="9144"/>
          </a:xfrm>
          <a:prstGeom prst="rect">
            <a:avLst/>
          </a:prstGeom>
          <a:solidFill>
            <a:srgbClr val="E8E4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370832"/>
            <a:ext cx="320040" cy="320040"/>
          </a:xfrm>
          <a:prstGeom prst="ellipse">
            <a:avLst/>
          </a:prstGeom>
          <a:solidFill>
            <a:srgbClr val="FFF0E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325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WBSO approved and R&amp;D tracking in place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258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 •  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 &amp; Commit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#1 Key Result for Q2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137160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560320" cy="137160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Maarten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2560320" cy="137160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Priority Stack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97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•  Q2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Q2 Agreements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during our OKR session.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2026  •  Sander, Maarten, Israel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SALES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1: Accelerate Revenue to &gt;€300k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819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€___k in Group Company deals (ADG / Crowe)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677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Circle generates €___k through BD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9535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Accountancy Circle: model designed &amp; first pilot running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393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revenue (Kriton / Node 1) reaches €___k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2: Ship a Product That Sells Itself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819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Portal live with Visual Transformation Timeline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/ Maarten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677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active clients on the Portal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9535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Hub MVP launched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393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Retention: workshop insights auto-stored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41148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" y="43251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context-layer: first client pilot running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SCALABILITY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3: Prove “Software with a Service”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819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expert webinars executed; cross-circle sharing 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677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learning partner onboarded for Work Better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9535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playbook documented for independent leads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/ Maarten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393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outsourced Circle Operations for Accountancy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MARKETING &amp; 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4: Build Team &amp; Brand for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819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intern productive and contributing to backlog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677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94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consultant onboarded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7432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9535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cofounder publishes ≥6 LinkedIn posts in Q2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880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6393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“Movement” community: ___ active participants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4114800"/>
            <a:ext cx="7223760" cy="9144"/>
          </a:xfrm>
          <a:prstGeom prst="rect">
            <a:avLst/>
          </a:prstGeom>
          <a:solidFill>
            <a:srgbClr val="F0ED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" y="4325112"/>
            <a:ext cx="201168" cy="201168"/>
          </a:xfrm>
          <a:prstGeom prst="rect">
            <a:avLst/>
          </a:prstGeom>
          <a:solidFill>
            <a:srgbClr val="F6FAEB"/>
          </a:solidFill>
          <a:ln w="12700">
            <a:solidFill>
              <a:srgbClr val="A39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WBSO approved and R&amp;D tracking in place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8E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COMMITMENTS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#1 Key Result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118872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560320" cy="118872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Maarten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404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560320" cy="1188720"/>
          </a:xfrm>
          <a:prstGeom prst="rect">
            <a:avLst/>
          </a:prstGeom>
          <a:solidFill>
            <a:srgbClr val="1E00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FA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8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KR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6751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7680960" cy="9144"/>
          </a:xfrm>
          <a:prstGeom prst="rect">
            <a:avLst/>
          </a:prstGeom>
          <a:solidFill>
            <a:srgbClr val="A397A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&amp; SIGNED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4023360"/>
            <a:ext cx="2011680" cy="9144"/>
          </a:xfrm>
          <a:prstGeom prst="rect">
            <a:avLst/>
          </a:prstGeom>
          <a:solidFill>
            <a:srgbClr val="1D021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Sander Kok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4023360"/>
            <a:ext cx="2011680" cy="9144"/>
          </a:xfrm>
          <a:prstGeom prst="rect">
            <a:avLst/>
          </a:prstGeom>
          <a:solidFill>
            <a:srgbClr val="1D021F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Maarten van den Heuvel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4389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4023360"/>
            <a:ext cx="2011680" cy="9144"/>
          </a:xfrm>
          <a:prstGeom prst="rect">
            <a:avLst/>
          </a:prstGeom>
          <a:solidFill>
            <a:srgbClr val="1D021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0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389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3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Tatoma Q2 2026 OKR Session</dc:title>
  <dc:subject>PptxGenJS Presentation</dc:subject>
  <dc:creator>Tatoma</dc:creator>
  <cp:lastModifiedBy>Tatoma</cp:lastModifiedBy>
  <cp:revision>1</cp:revision>
  <dcterms:created xsi:type="dcterms:W3CDTF">2026-03-31T08:36:54Z</dcterms:created>
  <dcterms:modified xsi:type="dcterms:W3CDTF">2026-03-31T08:36:54Z</dcterms:modified>
</cp:coreProperties>
</file>